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notesMaster" Target="notesMasters/notesMaster1.xml" /><Relationship Id="rId2" Type="http://schemas.openxmlformats.org/officeDocument/2006/relationships/slide" Target="slides/slide1.xml" /><Relationship Id="rId1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heme" Target="theme/theme1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4FAA72-2CB4-E84B-99CD-5266672D13B1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F32B8B-BA64-6F48-9645-AE36D7603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039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3.png" /><Relationship Id="rId4" Type="http://schemas.openxmlformats.org/officeDocument/2006/relationships/image" Target="../media/image2.pn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7.png" /><Relationship Id="rId5" Type="http://schemas.openxmlformats.org/officeDocument/2006/relationships/image" Target="../media/image6.png" /><Relationship Id="rId4" Type="http://schemas.openxmlformats.org/officeDocument/2006/relationships/image" Target="../media/image5.pn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1.png" /><Relationship Id="rId5" Type="http://schemas.openxmlformats.org/officeDocument/2006/relationships/image" Target="../media/image10.png" /><Relationship Id="rId4" Type="http://schemas.openxmlformats.org/officeDocument/2006/relationships/image" Target="../media/image9.png" 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 /><Relationship Id="rId3" Type="http://schemas.openxmlformats.org/officeDocument/2006/relationships/image" Target="../media/image12.png" /><Relationship Id="rId7" Type="http://schemas.openxmlformats.org/officeDocument/2006/relationships/image" Target="../media/image16.png" /><Relationship Id="rId12" Type="http://schemas.openxmlformats.org/officeDocument/2006/relationships/image" Target="../media/image19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5.png" /><Relationship Id="rId11" Type="http://schemas.openxmlformats.org/officeDocument/2006/relationships/image" Target="../media/image18.png" /><Relationship Id="rId5" Type="http://schemas.openxmlformats.org/officeDocument/2006/relationships/image" Target="../media/image14.png" /><Relationship Id="rId10" Type="http://schemas.openxmlformats.org/officeDocument/2006/relationships/image" Target="../media/image10.png" /><Relationship Id="rId4" Type="http://schemas.openxmlformats.org/officeDocument/2006/relationships/image" Target="../media/image13.png" /><Relationship Id="rId9" Type="http://schemas.openxmlformats.org/officeDocument/2006/relationships/image" Target="../media/image3.pn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 /><Relationship Id="rId7" Type="http://schemas.openxmlformats.org/officeDocument/2006/relationships/image" Target="../media/image24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23.png" /><Relationship Id="rId5" Type="http://schemas.openxmlformats.org/officeDocument/2006/relationships/image" Target="../media/image22.png" /><Relationship Id="rId4" Type="http://schemas.openxmlformats.org/officeDocument/2006/relationships/image" Target="../media/image21.png" 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 /><Relationship Id="rId3" Type="http://schemas.openxmlformats.org/officeDocument/2006/relationships/image" Target="../media/image25.png" /><Relationship Id="rId7" Type="http://schemas.openxmlformats.org/officeDocument/2006/relationships/image" Target="../media/image3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7.png" /><Relationship Id="rId5" Type="http://schemas.openxmlformats.org/officeDocument/2006/relationships/image" Target="../media/image2.png" /><Relationship Id="rId4" Type="http://schemas.openxmlformats.org/officeDocument/2006/relationships/image" Target="../media/image26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 /><Relationship Id="rId7" Type="http://schemas.openxmlformats.org/officeDocument/2006/relationships/image" Target="../media/image30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8.png" /><Relationship Id="rId5" Type="http://schemas.openxmlformats.org/officeDocument/2006/relationships/image" Target="../media/image14.png" /><Relationship Id="rId4" Type="http://schemas.openxmlformats.org/officeDocument/2006/relationships/image" Target="../media/image29.pn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 /><Relationship Id="rId7" Type="http://schemas.openxmlformats.org/officeDocument/2006/relationships/image" Target="../media/image5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22.png" /><Relationship Id="rId5" Type="http://schemas.openxmlformats.org/officeDocument/2006/relationships/image" Target="../media/image10.png" /><Relationship Id="rId4" Type="http://schemas.openxmlformats.org/officeDocument/2006/relationships/image" Target="../media/image27.pn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7" Type="http://schemas.openxmlformats.org/officeDocument/2006/relationships/image" Target="../media/image17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2.png" /><Relationship Id="rId5" Type="http://schemas.openxmlformats.org/officeDocument/2006/relationships/image" Target="../media/image14.png" /><Relationship Id="rId4" Type="http://schemas.openxmlformats.org/officeDocument/2006/relationships/image" Target="../media/image1.pn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32.png" /><Relationship Id="rId4" Type="http://schemas.openxmlformats.org/officeDocument/2006/relationships/image" Target="../media/image7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30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754880"/>
            <a:ext cx="3657600" cy="36576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NGO FUND TRACKER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58368" y="26060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Fund Management &amp; Donation Tracking System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58368" y="310896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solution for NGOs to manage donors, donations, expenses, projects, and reports.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4617720"/>
            <a:ext cx="3419856" cy="1554480"/>
          </a:xfrm>
          <a:prstGeom prst="roundRect">
            <a:avLst>
              <a:gd name="adj" fmla="val 4118"/>
            </a:avLst>
          </a:prstGeom>
          <a:solidFill>
            <a:srgbClr val="05495A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75688" y="48006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9" name="Image 0" descr="/home/claude/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9132" y="4924044"/>
            <a:ext cx="301752" cy="30175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5458968"/>
            <a:ext cx="3419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" y="5779008"/>
            <a:ext cx="31455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C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donor management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379976" y="4617720"/>
            <a:ext cx="3419856" cy="1554480"/>
          </a:xfrm>
          <a:prstGeom prst="roundRect">
            <a:avLst>
              <a:gd name="adj" fmla="val 4118"/>
            </a:avLst>
          </a:prstGeom>
          <a:solidFill>
            <a:srgbClr val="05495A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815584" y="48006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4" name="Image 1" descr="/home/claude/icons/handholdingus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9028" y="4924044"/>
            <a:ext cx="301752" cy="30175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79976" y="5458968"/>
            <a:ext cx="3419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Donations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517136" y="5779008"/>
            <a:ext cx="31455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C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+ cash payment tracking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8119872" y="4617720"/>
            <a:ext cx="3419856" cy="1554480"/>
          </a:xfrm>
          <a:prstGeom prst="roundRect">
            <a:avLst>
              <a:gd name="adj" fmla="val 4118"/>
            </a:avLst>
          </a:prstGeom>
          <a:solidFill>
            <a:srgbClr val="05495A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9555480" y="48006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9" name="Image 2" descr="/home/claude/icons/chartl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8924" y="4924044"/>
            <a:ext cx="301752" cy="30175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119872" y="5458968"/>
            <a:ext cx="3419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257032" y="5779008"/>
            <a:ext cx="31455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C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balance and project analytics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and impact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08676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ECEA"/>
            </a:solidFill>
            <a:prstDash val="solid"/>
          </a:ln>
          <a:effectLst>
            <a:outerShdw blurRad="101600" dist="25400" dir="5400000" algn="bl" rotWithShape="0">
              <a:srgbClr val="1B2B3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8308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icons/bulls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90195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810512"/>
            <a:ext cx="40370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User-Friendly System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514600"/>
            <a:ext cx="476859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66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user-friendly NGO fund management system for tracking donations and spending.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31636" y="1463040"/>
            <a:ext cx="5408676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ECEA"/>
            </a:solidFill>
            <a:prstDash val="solid"/>
          </a:ln>
          <a:effectLst>
            <a:outerShdw blurRad="101600" dist="25400" dir="5400000" algn="bl" rotWithShape="0">
              <a:srgbClr val="1B2B34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51676" y="178308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/home/claude/icons/user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0548" y="190195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28916" y="1810512"/>
            <a:ext cx="40370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Transparency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51676" y="2514600"/>
            <a:ext cx="476859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66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transparency, reduces data errors, and supports decision-making with live reports.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4023360"/>
            <a:ext cx="5408676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ECEA"/>
            </a:solidFill>
            <a:prstDash val="solid"/>
          </a:ln>
          <a:effectLst>
            <a:outerShdw blurRad="101600" dist="25400" dir="5400000" algn="bl" rotWithShape="0">
              <a:srgbClr val="1B2B34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34340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/home/claude/icons/glo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446227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370832"/>
            <a:ext cx="40370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Monitoring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68680" y="5074920"/>
            <a:ext cx="476859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66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project managers monitor fund utilization across education, health, relief, and water programs.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231636" y="4023360"/>
            <a:ext cx="5408676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ECEA"/>
            </a:solidFill>
            <a:prstDash val="solid"/>
          </a:ln>
          <a:effectLst>
            <a:outerShdw blurRad="101600" dist="25400" dir="5400000" algn="bl" rotWithShape="0">
              <a:srgbClr val="1B2B34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51676" y="434340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/home/claude/icons/handshak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0548" y="4462272"/>
            <a:ext cx="356616" cy="35661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28916" y="4370832"/>
            <a:ext cx="40370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Dual-Mode Support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6551676" y="5074920"/>
            <a:ext cx="476859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66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both admin dashboard operations and public-facing donation campaigns.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Addressed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1490472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12700">
            <a:solidFill>
              <a:srgbClr val="E3ECEA"/>
            </a:solidFill>
            <a:prstDash val="solid"/>
          </a:ln>
          <a:effectLst>
            <a:outerShdw blurRad="101600" dist="25400" dir="5400000" algn="bl" rotWithShape="0">
              <a:srgbClr val="1B2B3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4812"/>
            <a:ext cx="566928" cy="566928"/>
          </a:xfrm>
          <a:prstGeom prst="ellipse">
            <a:avLst/>
          </a:prstGeom>
          <a:solidFill>
            <a:srgbClr val="C4443C"/>
          </a:solidFill>
          <a:ln/>
        </p:spPr>
      </p:sp>
      <p:pic>
        <p:nvPicPr>
          <p:cNvPr id="6" name="Image 0" descr="/home/claude/icons/rand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346" y="2038198"/>
            <a:ext cx="340157" cy="34015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645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Records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00200" y="2029968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66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records are scattered, causing inconsistent donation tracking.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3154680"/>
            <a:ext cx="5394960" cy="1490472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12700">
            <a:solidFill>
              <a:srgbClr val="E3ECEA"/>
            </a:solidFill>
            <a:prstDash val="solid"/>
          </a:ln>
          <a:effectLst>
            <a:outerShdw blurRad="101600" dist="25400" dir="5400000" algn="bl" rotWithShape="0">
              <a:srgbClr val="1B2B34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2960" y="3616452"/>
            <a:ext cx="566928" cy="566928"/>
          </a:xfrm>
          <a:prstGeom prst="ellipse">
            <a:avLst/>
          </a:prstGeom>
          <a:solidFill>
            <a:srgbClr val="C4443C"/>
          </a:solidFill>
          <a:ln/>
        </p:spPr>
      </p:sp>
      <p:pic>
        <p:nvPicPr>
          <p:cNvPr id="11" name="Image 1" descr="/home/claude/icons/fileinvoi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346" y="3729838"/>
            <a:ext cx="340157" cy="34015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3337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Reporting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600200" y="3721608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66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reporting is manual, making financial oversight difficult.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846320"/>
            <a:ext cx="5394960" cy="1490472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12700">
            <a:solidFill>
              <a:srgbClr val="E3ECEA"/>
            </a:solidFill>
            <a:prstDash val="solid"/>
          </a:ln>
          <a:effectLst>
            <a:outerShdw blurRad="101600" dist="25400" dir="5400000" algn="bl" rotWithShape="0">
              <a:srgbClr val="1B2B34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5308092"/>
            <a:ext cx="566928" cy="566928"/>
          </a:xfrm>
          <a:prstGeom prst="ellipse">
            <a:avLst/>
          </a:prstGeom>
          <a:solidFill>
            <a:srgbClr val="C4443C"/>
          </a:solidFill>
          <a:ln/>
        </p:spPr>
      </p:sp>
      <p:pic>
        <p:nvPicPr>
          <p:cNvPr id="16" name="Image 2" descr="/home/claude/icons/balancesca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346" y="5421478"/>
            <a:ext cx="340157" cy="34015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5029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Balances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00200" y="5413248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66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lack a clear view of raised, spent, and remaining funds.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63640" y="1463040"/>
            <a:ext cx="5394960" cy="4983480"/>
          </a:xfrm>
          <a:prstGeom prst="roundRect">
            <a:avLst>
              <a:gd name="adj" fmla="val 1468"/>
            </a:avLst>
          </a:prstGeom>
          <a:solidFill>
            <a:srgbClr val="028090"/>
          </a:solidFill>
          <a:ln/>
          <a:effectLst>
            <a:outerShdw blurRad="127000" dist="38100" dir="5400000" algn="bl" rotWithShape="0">
              <a:srgbClr val="1B2B34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503920" y="1965960"/>
            <a:ext cx="914400" cy="9144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1" name="Image 3" descr="/home/claude/icons/sitem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9660" y="217170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629400" y="31089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2200" dirty="0"/>
          </a:p>
        </p:txBody>
      </p:sp>
      <p:sp>
        <p:nvSpPr>
          <p:cNvPr id="23" name="Text 17"/>
          <p:cNvSpPr/>
          <p:nvPr/>
        </p:nvSpPr>
        <p:spPr>
          <a:xfrm>
            <a:off x="6812280" y="3749040"/>
            <a:ext cx="4297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C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centralized database and dashboard-driven workflow connects donors, projects, donations, and expenses — resolving all three problems at once.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6995160" y="5212080"/>
            <a:ext cx="393192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6629400" y="544068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database  •  Dashboard-driven workflow  •  Real-time visibility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Features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capabilities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10512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5" name="Image 0" descr="/home/claude/icons/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97" y="1923669"/>
            <a:ext cx="276606" cy="27660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07008" y="1719072"/>
            <a:ext cx="47503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07008" y="2029968"/>
            <a:ext cx="47503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66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login with role-based access control.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889504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9" name="Image 1" descr="/home/claude/icons/userfrien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797" y="3002661"/>
            <a:ext cx="276606" cy="27660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07008" y="2798064"/>
            <a:ext cx="47503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Management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207008" y="3108960"/>
            <a:ext cx="47503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66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update donor records easily.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968496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3" name="Image 2" descr="/home/claude/icons/projectdiagr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797" y="4081653"/>
            <a:ext cx="276606" cy="27660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07008" y="3877056"/>
            <a:ext cx="47503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Creation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207008" y="4187952"/>
            <a:ext cx="47503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66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target amounts and track status.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5047488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7" name="Image 3" descr="/home/claude/icons/creditc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797" y="5160645"/>
            <a:ext cx="276606" cy="27660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07008" y="4956048"/>
            <a:ext cx="47503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Donation Entry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207008" y="5266944"/>
            <a:ext cx="47503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66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Cash, UPI, Razorpay, Stripe, PayPal, and cards.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48640" y="612648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1" name="Image 4" descr="/home/claude/icons/receip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797" y="6239637"/>
            <a:ext cx="276606" cy="27660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07008" y="6035040"/>
            <a:ext cx="47503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Generation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1207008" y="6345936"/>
            <a:ext cx="47503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66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donor acknowledgment receipts.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6231636" y="1810512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5" name="Image 5" descr="/home/claude/icons/fileinvoicedolla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4793" y="1923669"/>
            <a:ext cx="276606" cy="27660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890004" y="1719072"/>
            <a:ext cx="47503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Recording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6890004" y="2029968"/>
            <a:ext cx="47503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66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and approval history per project.</a:t>
            </a:r>
            <a:endParaRPr lang="en-US" sz="1150" dirty="0"/>
          </a:p>
        </p:txBody>
      </p:sp>
      <p:sp>
        <p:nvSpPr>
          <p:cNvPr id="28" name="Shape 20"/>
          <p:cNvSpPr/>
          <p:nvPr/>
        </p:nvSpPr>
        <p:spPr>
          <a:xfrm>
            <a:off x="6231636" y="2889504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9" name="Image 6" descr="/home/claude/icons/chartlin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44793" y="3002661"/>
            <a:ext cx="276606" cy="276606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890004" y="2798064"/>
            <a:ext cx="47503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Reports</a:t>
            </a:r>
            <a:endParaRPr lang="en-US" sz="1400" dirty="0"/>
          </a:p>
        </p:txBody>
      </p:sp>
      <p:sp>
        <p:nvSpPr>
          <p:cNvPr id="31" name="Text 22"/>
          <p:cNvSpPr/>
          <p:nvPr/>
        </p:nvSpPr>
        <p:spPr>
          <a:xfrm>
            <a:off x="6890004" y="3108960"/>
            <a:ext cx="47503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66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donated, spent, and remaining balances.</a:t>
            </a:r>
            <a:endParaRPr lang="en-US" sz="1150" dirty="0"/>
          </a:p>
        </p:txBody>
      </p:sp>
      <p:sp>
        <p:nvSpPr>
          <p:cNvPr id="32" name="Shape 23"/>
          <p:cNvSpPr/>
          <p:nvPr/>
        </p:nvSpPr>
        <p:spPr>
          <a:xfrm>
            <a:off x="6231636" y="3968496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3" name="Image 7" descr="/home/claude/icons/balancescal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44793" y="4081653"/>
            <a:ext cx="276606" cy="276606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890004" y="3877056"/>
            <a:ext cx="47503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Snapshots</a:t>
            </a:r>
            <a:endParaRPr lang="en-US" sz="1400" dirty="0"/>
          </a:p>
        </p:txBody>
      </p:sp>
      <p:sp>
        <p:nvSpPr>
          <p:cNvPr id="35" name="Text 25"/>
          <p:cNvSpPr/>
          <p:nvPr/>
        </p:nvSpPr>
        <p:spPr>
          <a:xfrm>
            <a:off x="6890004" y="4187952"/>
            <a:ext cx="47503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66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Project-wise balances and monthly funding trends.</a:t>
            </a:r>
            <a:endParaRPr lang="en-US" sz="1150" dirty="0"/>
          </a:p>
        </p:txBody>
      </p:sp>
      <p:sp>
        <p:nvSpPr>
          <p:cNvPr id="36" name="Shape 26"/>
          <p:cNvSpPr/>
          <p:nvPr/>
        </p:nvSpPr>
        <p:spPr>
          <a:xfrm>
            <a:off x="6231636" y="5047488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7" name="Image 8" descr="/home/claude/icons/chartpi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44793" y="5160645"/>
            <a:ext cx="276606" cy="276606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6890004" y="4956048"/>
            <a:ext cx="47503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Charts</a:t>
            </a:r>
            <a:endParaRPr lang="en-US" sz="1400" dirty="0"/>
          </a:p>
        </p:txBody>
      </p:sp>
      <p:sp>
        <p:nvSpPr>
          <p:cNvPr id="39" name="Text 28"/>
          <p:cNvSpPr/>
          <p:nvPr/>
        </p:nvSpPr>
        <p:spPr>
          <a:xfrm>
            <a:off x="6890004" y="5266944"/>
            <a:ext cx="47503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66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mode and donation performance visuals.</a:t>
            </a:r>
            <a:endParaRPr lang="en-US" sz="1150" dirty="0"/>
          </a:p>
        </p:txBody>
      </p:sp>
      <p:sp>
        <p:nvSpPr>
          <p:cNvPr id="40" name="Shape 29"/>
          <p:cNvSpPr/>
          <p:nvPr/>
        </p:nvSpPr>
        <p:spPr>
          <a:xfrm>
            <a:off x="6231636" y="612648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41" name="Image 9" descr="/home/claude/icons/desktop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44793" y="6239637"/>
            <a:ext cx="276606" cy="276606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6890004" y="6035040"/>
            <a:ext cx="47503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1400" dirty="0"/>
          </a:p>
        </p:txBody>
      </p:sp>
      <p:sp>
        <p:nvSpPr>
          <p:cNvPr id="43" name="Text 31"/>
          <p:cNvSpPr/>
          <p:nvPr/>
        </p:nvSpPr>
        <p:spPr>
          <a:xfrm>
            <a:off x="6890004" y="6345936"/>
            <a:ext cx="47503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66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smoothly on desktop and web devices.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028090"/>
          </a:solidFill>
          <a:ln/>
        </p:spPr>
      </p:sp>
      <p:pic>
        <p:nvPicPr>
          <p:cNvPr id="5" name="Image 0" descr="/home/claude/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682496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55448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657600" y="155448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JavaScript, and Jinja2 templates.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450592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05798A"/>
          </a:solidFill>
          <a:ln/>
        </p:spPr>
      </p:sp>
      <p:pic>
        <p:nvPicPr>
          <p:cNvPr id="9" name="Image 1" descr="/home/claude/icons/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2670048"/>
            <a:ext cx="402336" cy="4023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542032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657600" y="2542032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with the Flask web framework.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3438144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00A896"/>
          </a:solidFill>
          <a:ln/>
        </p:spPr>
      </p:sp>
      <p:pic>
        <p:nvPicPr>
          <p:cNvPr id="13" name="Image 2" descr="/home/claude/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3657600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3529584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3657600" y="3529584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for donor, donation, expense, and project data.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48640" y="4425696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1FAE9E"/>
          </a:solidFill>
          <a:ln/>
        </p:spPr>
      </p:sp>
      <p:pic>
        <p:nvPicPr>
          <p:cNvPr id="17" name="Image 3" descr="/home/claude/icons/layergrou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" y="4645152"/>
            <a:ext cx="402336" cy="40233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08760" y="4517136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3657600" y="4517136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Flask, mysql-connector-python, Werkzeug, and standard utilities.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548640" y="5413248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02C39A"/>
          </a:solidFill>
          <a:ln/>
        </p:spPr>
      </p:sp>
      <p:pic>
        <p:nvPicPr>
          <p:cNvPr id="21" name="Image 4" descr="/home/claude/icons/chartb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8" y="5632704"/>
            <a:ext cx="402336" cy="40233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508760" y="5504688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3657600" y="5504688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for charts and financial dashboards.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Workflow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 works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655064" y="2514600"/>
            <a:ext cx="8851392" cy="0"/>
          </a:xfrm>
          <a:prstGeom prst="line">
            <a:avLst/>
          </a:prstGeom>
          <a:noFill/>
          <a:ln w="3175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9284" y="1988820"/>
            <a:ext cx="1051560" cy="1051560"/>
          </a:xfrm>
          <a:prstGeom prst="ellipse">
            <a:avLst/>
          </a:prstGeom>
          <a:solidFill>
            <a:srgbClr val="028090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6" name="Image 0" descr="/home/claude/icons/sign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2174" y="2251710"/>
            <a:ext cx="525780" cy="5257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88236" y="1879092"/>
            <a:ext cx="310896" cy="310896"/>
          </a:xfrm>
          <a:prstGeom prst="ellipse">
            <a:avLst/>
          </a:prstGeom>
          <a:solidFill>
            <a:srgbClr val="02C39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88236" y="18608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17220" y="3383280"/>
            <a:ext cx="20756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Sign-In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17220" y="3794760"/>
            <a:ext cx="207568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66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signs in to the dashboard.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342132" y="1988820"/>
            <a:ext cx="1051560" cy="1051560"/>
          </a:xfrm>
          <a:prstGeom prst="ellipse">
            <a:avLst/>
          </a:prstGeom>
          <a:solidFill>
            <a:srgbClr val="028090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2" name="Image 1" descr="/home/claude/icons/userpl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5022" y="2251710"/>
            <a:ext cx="525780" cy="5257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101084" y="1879092"/>
            <a:ext cx="310896" cy="310896"/>
          </a:xfrm>
          <a:prstGeom prst="ellipse">
            <a:avLst/>
          </a:prstGeom>
          <a:solidFill>
            <a:srgbClr val="02C39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101084" y="18608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830068" y="3383280"/>
            <a:ext cx="20756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Records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2830068" y="3794760"/>
            <a:ext cx="207568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66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or match donor profiles.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554980" y="1988820"/>
            <a:ext cx="1051560" cy="1051560"/>
          </a:xfrm>
          <a:prstGeom prst="ellipse">
            <a:avLst/>
          </a:prstGeom>
          <a:solidFill>
            <a:srgbClr val="028090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8" name="Image 2" descr="/home/claude/icons/handholdingus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7870" y="2251710"/>
            <a:ext cx="525780" cy="52578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313932" y="1879092"/>
            <a:ext cx="310896" cy="310896"/>
          </a:xfrm>
          <a:prstGeom prst="ellipse">
            <a:avLst/>
          </a:prstGeom>
          <a:solidFill>
            <a:srgbClr val="02C39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313932" y="18608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042916" y="3383280"/>
            <a:ext cx="20756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Donation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5042916" y="3794760"/>
            <a:ext cx="207568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66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project, amount, mode, reference.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7767828" y="1988820"/>
            <a:ext cx="1051560" cy="1051560"/>
          </a:xfrm>
          <a:prstGeom prst="ellipse">
            <a:avLst/>
          </a:prstGeom>
          <a:solidFill>
            <a:srgbClr val="028090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24" name="Image 3" descr="/home/claude/icons/fileinvoicedoll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0718" y="2251710"/>
            <a:ext cx="525780" cy="52578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8526780" y="1879092"/>
            <a:ext cx="310896" cy="310896"/>
          </a:xfrm>
          <a:prstGeom prst="ellipse">
            <a:avLst/>
          </a:prstGeom>
          <a:solidFill>
            <a:srgbClr val="02C39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8526780" y="18608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7255764" y="3383280"/>
            <a:ext cx="20756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Expenses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7255764" y="3794760"/>
            <a:ext cx="207568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66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approve project expenses.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9980676" y="1988820"/>
            <a:ext cx="1051560" cy="1051560"/>
          </a:xfrm>
          <a:prstGeom prst="ellipse">
            <a:avLst/>
          </a:prstGeom>
          <a:solidFill>
            <a:srgbClr val="028090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30" name="Image 4" descr="/home/claude/icons/chartlin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3566" y="2251710"/>
            <a:ext cx="525780" cy="525780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10739628" y="1879092"/>
            <a:ext cx="310896" cy="310896"/>
          </a:xfrm>
          <a:prstGeom prst="ellipse">
            <a:avLst/>
          </a:prstGeom>
          <a:solidFill>
            <a:srgbClr val="02C39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10739628" y="18608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9468612" y="3383280"/>
            <a:ext cx="20756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Reports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9468612" y="3794760"/>
            <a:ext cx="207568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66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calculate automatically.</a:t>
            </a:r>
            <a:endParaRPr lang="en-US" sz="1150" dirty="0"/>
          </a:p>
        </p:txBody>
      </p:sp>
      <p:sp>
        <p:nvSpPr>
          <p:cNvPr id="35" name="Shape 28"/>
          <p:cNvSpPr/>
          <p:nvPr/>
        </p:nvSpPr>
        <p:spPr>
          <a:xfrm>
            <a:off x="548640" y="53492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4F3F1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868680" y="5568696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7" name="Image 5" descr="/home/claude/icons/checkcirc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7552" y="5687568"/>
            <a:ext cx="356616" cy="356616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1691640" y="5349240"/>
            <a:ext cx="9646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feeds directly into live, accurate financial reports — no manual reconciliation required.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Highlights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3ECEA"/>
            </a:solidFill>
            <a:prstDash val="solid"/>
          </a:ln>
          <a:effectLst>
            <a:outerShdw blurRad="101600" dist="25400" dir="5400000" algn="bl" rotWithShape="0">
              <a:srgbClr val="1B2B3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88820" y="17373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icons/tachome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6836" y="186537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48716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Cards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83464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66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 for donors, donations, expenses, active projects, and balance.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20540" y="146304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3ECEA"/>
            </a:solidFill>
            <a:prstDash val="solid"/>
          </a:ln>
          <a:effectLst>
            <a:outerShdw blurRad="101600" dist="25400" dir="5400000" algn="bl" rotWithShape="0">
              <a:srgbClr val="1B2B34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60720" y="17373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/home/claude/icons/ta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8736" y="186537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03420" y="248716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Activity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94860" y="283464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66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donation activity table for quick review.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92440" y="146304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3ECEA"/>
            </a:solidFill>
            <a:prstDash val="solid"/>
          </a:ln>
          <a:effectLst>
            <a:outerShdw blurRad="101600" dist="25400" dir="5400000" algn="bl" rotWithShape="0">
              <a:srgbClr val="1B2B34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532620" y="17373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/home/claude/icons/projectdiagr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0636" y="1865376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75320" y="248716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Overview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66760" y="283464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66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Raised, spent, and remaining values per project.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84048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3ECEA"/>
            </a:solidFill>
            <a:prstDash val="solid"/>
          </a:ln>
          <a:effectLst>
            <a:outerShdw blurRad="101600" dist="25400" dir="5400000" algn="bl" rotWithShape="0">
              <a:srgbClr val="1B2B34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68680" y="457200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1" name="Image 3" descr="/home/claude/icons/chartpi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696" y="4700016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91640" y="42519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Charts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691640" y="466344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66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Donation trend and payment mode charts support decision-making.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6217920" y="384048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3ECEA"/>
            </a:solidFill>
            <a:prstDash val="solid"/>
          </a:ln>
          <a:effectLst>
            <a:outerShdw blurRad="101600" dist="25400" dir="5400000" algn="bl" rotWithShape="0">
              <a:srgbClr val="1B2B34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537960" y="457200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6" name="Image 4" descr="/home/claude/icons/palet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5976" y="4700016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360920" y="42519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Branding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7360920" y="466344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66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Professional, responsive NGO-style layout across the platform.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Logic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and transparency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029200" cy="4937760"/>
          </a:xfrm>
          <a:prstGeom prst="roundRect">
            <a:avLst>
              <a:gd name="adj" fmla="val 1481"/>
            </a:avLst>
          </a:prstGeom>
          <a:solidFill>
            <a:srgbClr val="023047"/>
          </a:solidFill>
          <a:ln/>
          <a:effectLst>
            <a:outerShdw blurRad="127000" dist="38100" dir="5400000" algn="bl" rotWithShape="0">
              <a:srgbClr val="1B2B34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606040" y="1920240"/>
            <a:ext cx="914400" cy="9144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/home/claude/icons/calcula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1780" y="21259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06324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 = Donations − Expenses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1371600" y="3977640"/>
            <a:ext cx="3383280" cy="0"/>
          </a:xfrm>
          <a:prstGeom prst="line">
            <a:avLst/>
          </a:prstGeom>
          <a:noFill/>
          <a:ln w="12700">
            <a:solidFill>
              <a:srgbClr val="00A896">
                <a:alpha val="6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05840" y="420624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C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Project-level balance uses the same formula, filtered by Project ID — so every fund stays individually accountable.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4400" y="571500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fund balance = Total donations − Total expenses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943600" y="1728216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/home/claude/icons/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7044" y="1851660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720840" y="146304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Distinction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720840" y="1810512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66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 clearly separates raised, spent, and remaining values.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943600" y="3035808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/home/claude/icons/balancesca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7044" y="3159252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20840" y="277063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Mismatches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720840" y="3118104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66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mismatch issues and supports healthy financial monitoring.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943600" y="43434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0" name="Image 3" descr="/home/claude/icons/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7044" y="4466844"/>
            <a:ext cx="301752" cy="30175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720840" y="4078224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Values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6720840" y="4425696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66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and reports update directly from live database values.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5943600" y="5650992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4" name="Image 4" descr="/home/claude/icons/usershie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67044" y="5774436"/>
            <a:ext cx="301752" cy="30175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720840" y="5385816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Trust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6720840" y="57332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66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logic improves transparency and stakeholder confidence.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Database Entities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029968" cy="393192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2700">
            <a:solidFill>
              <a:srgbClr val="E3ECEA"/>
            </a:solidFill>
            <a:prstDash val="solid"/>
          </a:ln>
          <a:effectLst>
            <a:outerShdw blurRad="101600" dist="25400" dir="5400000" algn="bl" rotWithShape="0">
              <a:srgbClr val="1B2B3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97864" y="210312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icons/user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168" y="224942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017520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14400" y="3493008"/>
            <a:ext cx="1298448" cy="0"/>
          </a:xfrm>
          <a:prstGeom prst="line">
            <a:avLst/>
          </a:prstGeom>
          <a:noFill/>
          <a:ln w="12700">
            <a:solidFill>
              <a:srgbClr val="D8E6E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3703320"/>
            <a:ext cx="16642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66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credentials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31520" y="4325112"/>
            <a:ext cx="16642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66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access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31520" y="4946904"/>
            <a:ext cx="16642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66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management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807208" y="1737360"/>
            <a:ext cx="2029968" cy="393192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2700">
            <a:solidFill>
              <a:srgbClr val="E3ECEA"/>
            </a:solidFill>
            <a:prstDash val="solid"/>
          </a:ln>
          <a:effectLst>
            <a:outerShdw blurRad="101600" dist="25400" dir="5400000" algn="bl" rotWithShape="0">
              <a:srgbClr val="1B2B34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56432" y="210312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4" name="Image 1" descr="/home/claude/icons/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2736" y="2249424"/>
            <a:ext cx="438912" cy="4389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944368" y="3017520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Donors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3172968" y="3493008"/>
            <a:ext cx="1298448" cy="0"/>
          </a:xfrm>
          <a:prstGeom prst="line">
            <a:avLst/>
          </a:prstGeom>
          <a:noFill/>
          <a:ln w="12700">
            <a:solidFill>
              <a:srgbClr val="D8E6E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990088" y="3703320"/>
            <a:ext cx="16642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66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email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2990088" y="4325112"/>
            <a:ext cx="16642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66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number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2990088" y="4946904"/>
            <a:ext cx="16642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66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 &amp; donor type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5065776" y="1737360"/>
            <a:ext cx="2029968" cy="393192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2700">
            <a:solidFill>
              <a:srgbClr val="E3ECEA"/>
            </a:solidFill>
            <a:prstDash val="solid"/>
          </a:ln>
          <a:effectLst>
            <a:outerShdw blurRad="101600" dist="25400" dir="5400000" algn="bl" rotWithShape="0">
              <a:srgbClr val="1B2B34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715000" y="210312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2" name="Image 2" descr="/home/claude/icons/projectdiagr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1304" y="2249424"/>
            <a:ext cx="438912" cy="43891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202936" y="3017520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5431536" y="3493008"/>
            <a:ext cx="1298448" cy="0"/>
          </a:xfrm>
          <a:prstGeom prst="line">
            <a:avLst/>
          </a:prstGeom>
          <a:noFill/>
          <a:ln w="12700">
            <a:solidFill>
              <a:srgbClr val="D8E6E3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5248656" y="3703320"/>
            <a:ext cx="16642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66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Fundraising target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5248656" y="4325112"/>
            <a:ext cx="16642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66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5248656" y="4946904"/>
            <a:ext cx="16642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66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&amp; dates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7324344" y="1737360"/>
            <a:ext cx="2029968" cy="393192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2700">
            <a:solidFill>
              <a:srgbClr val="E3ECEA"/>
            </a:solidFill>
            <a:prstDash val="solid"/>
          </a:ln>
          <a:effectLst>
            <a:outerShdw blurRad="101600" dist="25400" dir="5400000" algn="bl" rotWithShape="0">
              <a:srgbClr val="1B2B34">
                <a:alpha val="12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7973568" y="210312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0" name="Image 3" descr="/home/claude/icons/handholdingus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9872" y="2249424"/>
            <a:ext cx="438912" cy="438912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461504" y="3017520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Donations</a:t>
            </a:r>
            <a:endParaRPr lang="en-US" sz="1600" dirty="0"/>
          </a:p>
        </p:txBody>
      </p:sp>
      <p:sp>
        <p:nvSpPr>
          <p:cNvPr id="32" name="Shape 26"/>
          <p:cNvSpPr/>
          <p:nvPr/>
        </p:nvSpPr>
        <p:spPr>
          <a:xfrm>
            <a:off x="7690104" y="3493008"/>
            <a:ext cx="1298448" cy="0"/>
          </a:xfrm>
          <a:prstGeom prst="line">
            <a:avLst/>
          </a:prstGeom>
          <a:noFill/>
          <a:ln w="12700">
            <a:solidFill>
              <a:srgbClr val="D8E6E3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7507224" y="3703320"/>
            <a:ext cx="16642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66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&amp; project</a:t>
            </a:r>
            <a:endParaRPr lang="en-US" sz="1150" dirty="0"/>
          </a:p>
        </p:txBody>
      </p:sp>
      <p:sp>
        <p:nvSpPr>
          <p:cNvPr id="34" name="Text 28"/>
          <p:cNvSpPr/>
          <p:nvPr/>
        </p:nvSpPr>
        <p:spPr>
          <a:xfrm>
            <a:off x="7507224" y="4325112"/>
            <a:ext cx="16642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66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&amp; payment mode</a:t>
            </a:r>
            <a:endParaRPr lang="en-US" sz="1150" dirty="0"/>
          </a:p>
        </p:txBody>
      </p:sp>
      <p:sp>
        <p:nvSpPr>
          <p:cNvPr id="35" name="Text 29"/>
          <p:cNvSpPr/>
          <p:nvPr/>
        </p:nvSpPr>
        <p:spPr>
          <a:xfrm>
            <a:off x="7507224" y="4946904"/>
            <a:ext cx="16642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66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number</a:t>
            </a:r>
            <a:endParaRPr lang="en-US" sz="1150" dirty="0"/>
          </a:p>
        </p:txBody>
      </p:sp>
      <p:sp>
        <p:nvSpPr>
          <p:cNvPr id="36" name="Shape 30"/>
          <p:cNvSpPr/>
          <p:nvPr/>
        </p:nvSpPr>
        <p:spPr>
          <a:xfrm>
            <a:off x="9582912" y="1737360"/>
            <a:ext cx="2029968" cy="393192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2700">
            <a:solidFill>
              <a:srgbClr val="E3ECEA"/>
            </a:solidFill>
            <a:prstDash val="solid"/>
          </a:ln>
          <a:effectLst>
            <a:outerShdw blurRad="101600" dist="25400" dir="5400000" algn="bl" rotWithShape="0">
              <a:srgbClr val="1B2B34">
                <a:alpha val="12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10232136" y="210312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8" name="Image 4" descr="/home/claude/icons/fileinvoicedoll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78440" y="2249424"/>
            <a:ext cx="438912" cy="438912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9720072" y="3017520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</a:t>
            </a:r>
            <a:endParaRPr lang="en-US" sz="1600" dirty="0"/>
          </a:p>
        </p:txBody>
      </p:sp>
      <p:sp>
        <p:nvSpPr>
          <p:cNvPr id="40" name="Shape 33"/>
          <p:cNvSpPr/>
          <p:nvPr/>
        </p:nvSpPr>
        <p:spPr>
          <a:xfrm>
            <a:off x="9948672" y="3493008"/>
            <a:ext cx="1298448" cy="0"/>
          </a:xfrm>
          <a:prstGeom prst="line">
            <a:avLst/>
          </a:prstGeom>
          <a:noFill/>
          <a:ln w="12700">
            <a:solidFill>
              <a:srgbClr val="D8E6E3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9765792" y="3703320"/>
            <a:ext cx="16642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66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&amp; category</a:t>
            </a:r>
            <a:endParaRPr lang="en-US" sz="1150" dirty="0"/>
          </a:p>
        </p:txBody>
      </p:sp>
      <p:sp>
        <p:nvSpPr>
          <p:cNvPr id="42" name="Text 35"/>
          <p:cNvSpPr/>
          <p:nvPr/>
        </p:nvSpPr>
        <p:spPr>
          <a:xfrm>
            <a:off x="9765792" y="4325112"/>
            <a:ext cx="16642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66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1150" dirty="0"/>
          </a:p>
        </p:txBody>
      </p:sp>
      <p:sp>
        <p:nvSpPr>
          <p:cNvPr id="43" name="Text 36"/>
          <p:cNvSpPr/>
          <p:nvPr/>
        </p:nvSpPr>
        <p:spPr>
          <a:xfrm>
            <a:off x="9765792" y="4946904"/>
            <a:ext cx="16642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66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&amp; date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30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572000" cy="45720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4114800" cy="41148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594360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0" y="11887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outcome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3419856" cy="2834640"/>
          </a:xfrm>
          <a:prstGeom prst="roundRect">
            <a:avLst>
              <a:gd name="adj" fmla="val 2581"/>
            </a:avLst>
          </a:prstGeom>
          <a:solidFill>
            <a:srgbClr val="05495A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84248" y="242316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8" name="Image 0" descr="/home/claude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2587752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3337560"/>
            <a:ext cx="29626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&amp; Practical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14400" y="3886200"/>
            <a:ext cx="287121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C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full, real-world financial management tool built for non-profits.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79976" y="2057400"/>
            <a:ext cx="3419856" cy="2834640"/>
          </a:xfrm>
          <a:prstGeom prst="roundRect">
            <a:avLst>
              <a:gd name="adj" fmla="val 2581"/>
            </a:avLst>
          </a:prstGeom>
          <a:solidFill>
            <a:srgbClr val="05495A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724144" y="242316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3" name="Image 1" descr="/home/claude/icons/handshak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8736" y="2587752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08576" y="3337560"/>
            <a:ext cx="29626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Accountability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654296" y="3886200"/>
            <a:ext cx="287121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C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Streamlines donor and project tracking with reliable reporting.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119872" y="2057400"/>
            <a:ext cx="3419856" cy="2834640"/>
          </a:xfrm>
          <a:prstGeom prst="roundRect">
            <a:avLst>
              <a:gd name="adj" fmla="val 2581"/>
            </a:avLst>
          </a:prstGeom>
          <a:solidFill>
            <a:srgbClr val="05495A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464040" y="242316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8" name="Image 2" descr="/home/claude/icons/rock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8632" y="2587752"/>
            <a:ext cx="402336" cy="40233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48472" y="3337560"/>
            <a:ext cx="29626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Scale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394192" y="3886200"/>
            <a:ext cx="287121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C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Extendable with payment gateways, exports, and advanced analytics.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2286000" y="5349240"/>
            <a:ext cx="7616952" cy="0"/>
          </a:xfrm>
          <a:prstGeom prst="line">
            <a:avLst/>
          </a:prstGeom>
          <a:noFill/>
          <a:ln w="12700">
            <a:solidFill>
              <a:srgbClr val="00A896">
                <a:alpha val="60000"/>
              </a:srgbClr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0" y="55321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reporting. Transparent operations. Modern NGO management.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Kaif Jaman</cp:lastModifiedBy>
  <cp:revision>2</cp:revision>
  <dcterms:created xsi:type="dcterms:W3CDTF">2026-09-21T22:59:28Z</dcterms:created>
  <dcterms:modified xsi:type="dcterms:W3CDTF">2026-09-22T01:26:32Z</dcterms:modified>
</cp:coreProperties>
</file>